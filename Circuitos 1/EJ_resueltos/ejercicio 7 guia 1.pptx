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EDF4AA"/>
    <a:srgbClr val="0000FF"/>
    <a:srgbClr val="FF33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309" autoAdjust="0"/>
    <p:restoredTop sz="93855" autoAdjust="0"/>
  </p:normalViewPr>
  <p:slideViewPr>
    <p:cSldViewPr>
      <p:cViewPr varScale="1">
        <p:scale>
          <a:sx n="68" d="100"/>
          <a:sy n="68" d="100"/>
        </p:scale>
        <p:origin x="-153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2724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4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13B10B9-27C2-4FBF-ACC1-5DF3889416E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3302517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E4E7925-3463-4A87-AF44-BFBC8B8413F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794940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just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just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just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just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4E7925-3463-4A87-AF44-BFBC8B8413F5}" type="slidenum">
              <a:rPr lang="es-ES" smtClean="0"/>
              <a:pPr>
                <a:defRPr/>
              </a:pPr>
              <a:t>6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1EF53-2812-4830-AA3F-DAD3B00BE4E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109906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906C2-65B2-4EAA-B72A-15116EA45D9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119027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62455-A92A-4AA1-810D-50834404F2E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3645769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CA346C-6963-4FE4-828E-E8465F90F27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239664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8BE7EE-28C8-4D2B-A323-DDBFB4C938B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289509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D6494-9DBC-4D90-B22A-D6D9EF8CA1E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353814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2FF906-8128-4E9D-AF84-C3EF352089C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188953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1D5D4B-223F-43A8-AF0C-AD7A3959BAD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1070212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AR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E22F4-A186-43D0-93B9-AD93B668ECC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259147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B4920-A7F4-471E-8DC3-5001A208A3D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147882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0786F4-4A46-4CB2-B64C-EFECA0C491C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3996897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A6083-8373-4535-8D9F-68318690745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2474021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8313" y="6308725"/>
            <a:ext cx="7272337" cy="352425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AR" smtClean="0"/>
              <a:t>Realimentación Negativa – Circuitos Electrónicos I – FI UNMDP</a:t>
            </a: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56550" y="6245225"/>
            <a:ext cx="7302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3300"/>
                </a:solidFill>
                <a:latin typeface="+mn-lt"/>
              </a:defRPr>
            </a:lvl1pPr>
          </a:lstStyle>
          <a:p>
            <a:pPr>
              <a:defRPr/>
            </a:pPr>
            <a:fld id="{37FE79D0-D9AD-414E-BFEE-6A8295FB582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60040" y="764704"/>
            <a:ext cx="7772400" cy="504055"/>
          </a:xfrm>
        </p:spPr>
        <p:txBody>
          <a:bodyPr/>
          <a:lstStyle/>
          <a:p>
            <a:r>
              <a:rPr lang="es-AR" sz="3200" dirty="0" smtClean="0"/>
              <a:t>Ejercicio 7 Guía 1</a:t>
            </a:r>
            <a:endParaRPr lang="es-AR" sz="3200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41EF53-2812-4830-AA3F-DAD3B00BE4EE}" type="slidenum">
              <a:rPr lang="es-ES" smtClean="0"/>
              <a:pPr>
                <a:defRPr/>
              </a:pPr>
              <a:t>1</a:t>
            </a:fld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714348" y="1500174"/>
            <a:ext cx="8215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latin typeface="+mn-lt"/>
              </a:rPr>
              <a:t>En pequeña señal la ganancia de tensión y las impedancias de entrada y salida de un seguidor de emisor son: ( recordar lo desarrollado en Dispositivos Electrónicos)</a:t>
            </a:r>
            <a:endParaRPr lang="es-AR" dirty="0">
              <a:latin typeface="+mn-lt"/>
            </a:endParaRPr>
          </a:p>
        </p:txBody>
      </p:sp>
      <p:pic>
        <p:nvPicPr>
          <p:cNvPr id="12" name="11 Imagen" descr="g1e7f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2857496"/>
            <a:ext cx="3838575" cy="28194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8013" y="3270250"/>
            <a:ext cx="5387975" cy="32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86314" y="2857496"/>
            <a:ext cx="3031758" cy="961799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29190" y="4857760"/>
            <a:ext cx="2529951" cy="857256"/>
          </a:xfrm>
          <a:prstGeom prst="rect">
            <a:avLst/>
          </a:prstGeom>
          <a:noFill/>
        </p:spPr>
      </p:pic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86314" y="4143380"/>
            <a:ext cx="2742858" cy="438096"/>
          </a:xfrm>
          <a:prstGeom prst="rect">
            <a:avLst/>
          </a:prstGeom>
          <a:noFill/>
        </p:spPr>
      </p:pic>
      <p:sp>
        <p:nvSpPr>
          <p:cNvPr id="16" name="15 Rectángulo"/>
          <p:cNvSpPr/>
          <p:nvPr/>
        </p:nvSpPr>
        <p:spPr>
          <a:xfrm>
            <a:off x="4429124" y="2643182"/>
            <a:ext cx="3857652" cy="31432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350455460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60040" y="764704"/>
            <a:ext cx="7772400" cy="504055"/>
          </a:xfrm>
        </p:spPr>
        <p:txBody>
          <a:bodyPr/>
          <a:lstStyle/>
          <a:p>
            <a:r>
              <a:rPr lang="es-AR" sz="3200" dirty="0" smtClean="0"/>
              <a:t>Ejercicio 7 Guía 1</a:t>
            </a:r>
            <a:endParaRPr lang="es-AR" sz="3200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41EF53-2812-4830-AA3F-DAD3B00BE4EE}" type="slidenum">
              <a:rPr lang="es-ES" smtClean="0"/>
              <a:pPr>
                <a:defRPr/>
              </a:pPr>
              <a:t>2</a:t>
            </a:fld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642910" y="1928802"/>
            <a:ext cx="3143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>
                <a:latin typeface="+mn-lt"/>
              </a:rPr>
              <a:t>Circuito de pequeña señal a </a:t>
            </a:r>
          </a:p>
          <a:p>
            <a:pPr algn="ctr"/>
            <a:r>
              <a:rPr lang="es-AR" dirty="0" smtClean="0">
                <a:latin typeface="+mn-lt"/>
              </a:rPr>
              <a:t>Frecuencias medias</a:t>
            </a:r>
            <a:endParaRPr lang="es-AR" dirty="0">
              <a:latin typeface="+mn-lt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5" name="14 Imagen" descr="g1e7f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2786058"/>
            <a:ext cx="4143404" cy="3043294"/>
          </a:xfrm>
          <a:prstGeom prst="rect">
            <a:avLst/>
          </a:prstGeom>
        </p:spPr>
      </p:pic>
      <p:sp>
        <p:nvSpPr>
          <p:cNvPr id="18" name="17 CuadroTexto"/>
          <p:cNvSpPr txBox="1"/>
          <p:nvPr/>
        </p:nvSpPr>
        <p:spPr>
          <a:xfrm>
            <a:off x="4429124" y="3143248"/>
            <a:ext cx="44291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s-AR" dirty="0" smtClean="0">
                <a:latin typeface="+mn-lt"/>
              </a:rPr>
              <a:t> </a:t>
            </a:r>
            <a:r>
              <a:rPr lang="es-AR" dirty="0" err="1" smtClean="0">
                <a:latin typeface="+mn-lt"/>
              </a:rPr>
              <a:t>Senso</a:t>
            </a:r>
            <a:r>
              <a:rPr lang="es-AR" dirty="0" smtClean="0">
                <a:latin typeface="+mn-lt"/>
              </a:rPr>
              <a:t> </a:t>
            </a:r>
            <a:r>
              <a:rPr lang="es-AR" dirty="0" err="1" smtClean="0">
                <a:latin typeface="+mn-lt"/>
              </a:rPr>
              <a:t>Vo</a:t>
            </a:r>
            <a:r>
              <a:rPr lang="es-AR" dirty="0" smtClean="0">
                <a:latin typeface="+mn-lt"/>
              </a:rPr>
              <a:t> a la salida (en Paralelo)</a:t>
            </a:r>
          </a:p>
          <a:p>
            <a:pPr>
              <a:buFont typeface="Wingdings" pitchFamily="2" charset="2"/>
              <a:buChar char="ü"/>
            </a:pPr>
            <a:endParaRPr lang="es-AR" dirty="0" smtClean="0">
              <a:latin typeface="+mn-lt"/>
            </a:endParaRPr>
          </a:p>
          <a:p>
            <a:pPr>
              <a:buFont typeface="Wingdings" pitchFamily="2" charset="2"/>
              <a:buChar char="ü"/>
            </a:pPr>
            <a:r>
              <a:rPr lang="es-AR" dirty="0" smtClean="0">
                <a:latin typeface="+mn-lt"/>
              </a:rPr>
              <a:t> Realimento la misma </a:t>
            </a:r>
            <a:r>
              <a:rPr lang="es-AR" dirty="0" err="1" smtClean="0">
                <a:latin typeface="+mn-lt"/>
              </a:rPr>
              <a:t>Vo</a:t>
            </a:r>
            <a:r>
              <a:rPr lang="es-AR" dirty="0" smtClean="0">
                <a:latin typeface="+mn-lt"/>
              </a:rPr>
              <a:t> en Serie a la entrada ( </a:t>
            </a:r>
            <a:r>
              <a:rPr lang="es-AR" dirty="0" err="1" smtClean="0">
                <a:latin typeface="+mn-lt"/>
              </a:rPr>
              <a:t>Vo</a:t>
            </a:r>
            <a:r>
              <a:rPr lang="es-AR" dirty="0" smtClean="0">
                <a:latin typeface="+mn-lt"/>
              </a:rPr>
              <a:t> = </a:t>
            </a:r>
            <a:r>
              <a:rPr lang="es-AR" dirty="0" err="1" smtClean="0">
                <a:latin typeface="+mn-lt"/>
              </a:rPr>
              <a:t>Vf</a:t>
            </a:r>
            <a:r>
              <a:rPr lang="es-AR" dirty="0" smtClean="0">
                <a:latin typeface="+mn-lt"/>
              </a:rPr>
              <a:t> )</a:t>
            </a:r>
          </a:p>
          <a:p>
            <a:pPr>
              <a:buFont typeface="Wingdings" pitchFamily="2" charset="2"/>
              <a:buChar char="ü"/>
            </a:pPr>
            <a:endParaRPr lang="es-AR" dirty="0" smtClean="0">
              <a:latin typeface="+mn-lt"/>
            </a:endParaRPr>
          </a:p>
          <a:p>
            <a:pPr>
              <a:buFont typeface="Wingdings" pitchFamily="2" charset="2"/>
              <a:buChar char="ü"/>
            </a:pPr>
            <a:r>
              <a:rPr lang="es-AR" dirty="0" smtClean="0">
                <a:latin typeface="+mn-lt"/>
              </a:rPr>
              <a:t> Se restan a la entrada Vi – </a:t>
            </a:r>
            <a:r>
              <a:rPr lang="es-AR" dirty="0" err="1" smtClean="0">
                <a:latin typeface="+mn-lt"/>
              </a:rPr>
              <a:t>Vf</a:t>
            </a:r>
            <a:endParaRPr lang="es-AR" dirty="0" smtClean="0">
              <a:latin typeface="+mn-lt"/>
            </a:endParaRPr>
          </a:p>
          <a:p>
            <a:pPr>
              <a:buFont typeface="Wingdings" pitchFamily="2" charset="2"/>
              <a:buChar char="ü"/>
            </a:pPr>
            <a:endParaRPr lang="es-AR" dirty="0" smtClean="0">
              <a:latin typeface="+mn-lt"/>
            </a:endParaRPr>
          </a:p>
          <a:p>
            <a:pPr>
              <a:buFont typeface="Wingdings" pitchFamily="2" charset="2"/>
              <a:buChar char="ü"/>
            </a:pPr>
            <a:r>
              <a:rPr lang="es-AR" dirty="0" smtClean="0">
                <a:latin typeface="+mn-lt"/>
              </a:rPr>
              <a:t>Configuración Serie-Paralelo</a:t>
            </a:r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0455460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60040" y="764704"/>
            <a:ext cx="7772400" cy="504055"/>
          </a:xfrm>
        </p:spPr>
        <p:txBody>
          <a:bodyPr/>
          <a:lstStyle/>
          <a:p>
            <a:r>
              <a:rPr lang="es-AR" sz="3200" dirty="0" smtClean="0"/>
              <a:t>Ejercicio 7 Guía 1</a:t>
            </a:r>
            <a:endParaRPr lang="es-AR" sz="3200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41EF53-2812-4830-AA3F-DAD3B00BE4EE}" type="slidenum">
              <a:rPr lang="es-ES" smtClean="0"/>
              <a:pPr>
                <a:defRPr/>
              </a:pPr>
              <a:t>3</a:t>
            </a:fld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500166" y="1643050"/>
            <a:ext cx="657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>
                <a:latin typeface="+mn-lt"/>
              </a:rPr>
              <a:t>Circuito equivalente de pequeña señal a  Frecuencias medias</a:t>
            </a:r>
            <a:endParaRPr lang="es-AR" i="1" dirty="0">
              <a:latin typeface="+mn-lt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1" name="10 Imagen" descr="g1e7f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70" y="2214554"/>
            <a:ext cx="5323453" cy="391003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0455460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60040" y="764704"/>
            <a:ext cx="7772400" cy="504055"/>
          </a:xfrm>
        </p:spPr>
        <p:txBody>
          <a:bodyPr/>
          <a:lstStyle/>
          <a:p>
            <a:r>
              <a:rPr lang="es-AR" sz="3200" dirty="0" smtClean="0"/>
              <a:t>Ejercicio 7 Guía 1</a:t>
            </a:r>
            <a:endParaRPr lang="es-AR" sz="3200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41EF53-2812-4830-AA3F-DAD3B00BE4EE}" type="slidenum">
              <a:rPr lang="es-ES" smtClean="0"/>
              <a:pPr>
                <a:defRPr/>
              </a:pPr>
              <a:t>4</a:t>
            </a:fld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2428860" y="1357298"/>
            <a:ext cx="442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>
                <a:latin typeface="+mn-lt"/>
              </a:rPr>
              <a:t>Red f – Parámetros h – Serie/Paralelo</a:t>
            </a:r>
            <a:endParaRPr lang="es-AR" i="1" dirty="0">
              <a:latin typeface="+mn-lt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2" name="11 Imagen" descr="g1e7f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2285992"/>
            <a:ext cx="2343150" cy="1905000"/>
          </a:xfrm>
          <a:prstGeom prst="rect">
            <a:avLst/>
          </a:prstGeom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00364" y="1928802"/>
            <a:ext cx="2038096" cy="761904"/>
          </a:xfrm>
          <a:prstGeom prst="rect">
            <a:avLst/>
          </a:prstGeom>
          <a:noFill/>
        </p:spPr>
      </p:pic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57884" y="1857364"/>
            <a:ext cx="2533334" cy="761904"/>
          </a:xfrm>
          <a:prstGeom prst="rect">
            <a:avLst/>
          </a:prstGeom>
          <a:noFill/>
        </p:spPr>
      </p:pic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28926" y="3000372"/>
            <a:ext cx="2209524" cy="819048"/>
          </a:xfrm>
          <a:prstGeom prst="rect">
            <a:avLst/>
          </a:prstGeom>
          <a:noFill/>
        </p:spPr>
      </p:pic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57884" y="3000372"/>
            <a:ext cx="2190476" cy="819048"/>
          </a:xfrm>
          <a:prstGeom prst="rect">
            <a:avLst/>
          </a:prstGeom>
          <a:noFill/>
        </p:spPr>
      </p:pic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4" name="23 CuadroTexto"/>
          <p:cNvSpPr txBox="1"/>
          <p:nvPr/>
        </p:nvSpPr>
        <p:spPr>
          <a:xfrm>
            <a:off x="857224" y="4429132"/>
            <a:ext cx="74295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Wingdings" pitchFamily="2" charset="2"/>
              <a:buChar char="ü"/>
            </a:pPr>
            <a:endParaRPr lang="es-AR" dirty="0" smtClean="0">
              <a:latin typeface="+mn-lt"/>
            </a:endParaRPr>
          </a:p>
          <a:p>
            <a:pPr>
              <a:buFont typeface="Wingdings" pitchFamily="2" charset="2"/>
              <a:buChar char="ü"/>
            </a:pPr>
            <a:r>
              <a:rPr lang="es-AR" dirty="0" smtClean="0">
                <a:latin typeface="+mn-lt"/>
              </a:rPr>
              <a:t> h12 = 1 significa realimentación unitaria, toda la tensión en la salida se realimenta a la entrada.</a:t>
            </a:r>
          </a:p>
          <a:p>
            <a:pPr>
              <a:buFont typeface="Wingdings" pitchFamily="2" charset="2"/>
              <a:buChar char="ü"/>
            </a:pPr>
            <a:endParaRPr lang="es-AR" i="1" dirty="0" smtClean="0">
              <a:latin typeface="+mn-lt"/>
            </a:endParaRPr>
          </a:p>
          <a:p>
            <a:pPr algn="just">
              <a:buFont typeface="Wingdings" pitchFamily="2" charset="2"/>
              <a:buChar char="ü"/>
            </a:pPr>
            <a:r>
              <a:rPr lang="es-AR" dirty="0" smtClean="0"/>
              <a:t> </a:t>
            </a:r>
            <a:r>
              <a:rPr lang="es-AR" dirty="0" smtClean="0">
                <a:latin typeface="+mn-lt"/>
              </a:rPr>
              <a:t>En este caso  h21 no se desprecia , para comprobar la transferencia con exactitud</a:t>
            </a:r>
          </a:p>
          <a:p>
            <a:pPr algn="just">
              <a:buFont typeface="Wingdings" pitchFamily="2" charset="2"/>
              <a:buChar char="ü"/>
            </a:pPr>
            <a:endParaRPr lang="es-AR" i="1" dirty="0"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0455460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29 Rectángulo"/>
          <p:cNvSpPr/>
          <p:nvPr/>
        </p:nvSpPr>
        <p:spPr>
          <a:xfrm>
            <a:off x="1000100" y="4357694"/>
            <a:ext cx="7286676" cy="185738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60040" y="764704"/>
            <a:ext cx="7772400" cy="504055"/>
          </a:xfrm>
        </p:spPr>
        <p:txBody>
          <a:bodyPr/>
          <a:lstStyle/>
          <a:p>
            <a:r>
              <a:rPr lang="es-AR" sz="3200" dirty="0" smtClean="0"/>
              <a:t>Ejercicio 7 Guía 1</a:t>
            </a:r>
            <a:endParaRPr lang="es-AR" sz="3200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41EF53-2812-4830-AA3F-DAD3B00BE4EE}" type="slidenum">
              <a:rPr lang="es-ES" smtClean="0"/>
              <a:pPr>
                <a:defRPr/>
              </a:pPr>
              <a:t>5</a:t>
            </a:fld>
            <a:endParaRPr lang="es-ES" dirty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21" name="20 Imagen" descr="g1e7f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1357298"/>
            <a:ext cx="4267200" cy="2819400"/>
          </a:xfrm>
          <a:prstGeom prst="rect">
            <a:avLst/>
          </a:prstGeom>
        </p:spPr>
      </p:pic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86182" y="1500174"/>
            <a:ext cx="5085714" cy="838096"/>
          </a:xfrm>
          <a:prstGeom prst="rect">
            <a:avLst/>
          </a:prstGeom>
          <a:noFill/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72132" y="2928934"/>
            <a:ext cx="1447620" cy="380952"/>
          </a:xfrm>
          <a:prstGeom prst="rect">
            <a:avLst/>
          </a:prstGeom>
          <a:noFill/>
        </p:spPr>
      </p:pic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85852" y="4572008"/>
            <a:ext cx="6819048" cy="12761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50455460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29 Rectángulo"/>
          <p:cNvSpPr/>
          <p:nvPr/>
        </p:nvSpPr>
        <p:spPr>
          <a:xfrm>
            <a:off x="2857488" y="1285860"/>
            <a:ext cx="6072230" cy="10001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85786" y="428604"/>
            <a:ext cx="7772400" cy="504055"/>
          </a:xfrm>
        </p:spPr>
        <p:txBody>
          <a:bodyPr/>
          <a:lstStyle/>
          <a:p>
            <a:r>
              <a:rPr lang="es-AR" sz="3200" dirty="0" smtClean="0"/>
              <a:t>Ejercicio 7 Guía 1</a:t>
            </a:r>
            <a:endParaRPr lang="es-AR" sz="3200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41EF53-2812-4830-AA3F-DAD3B00BE4EE}" type="slidenum">
              <a:rPr lang="es-ES" smtClean="0"/>
              <a:pPr>
                <a:defRPr/>
              </a:pPr>
              <a:t>6</a:t>
            </a:fld>
            <a:endParaRPr lang="es-ES" dirty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21" name="20 Imagen" descr="g1e7f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44" y="3143248"/>
            <a:ext cx="3357554" cy="2218384"/>
          </a:xfrm>
          <a:prstGeom prst="rect">
            <a:avLst/>
          </a:prstGeom>
        </p:spPr>
      </p:pic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1214422"/>
            <a:ext cx="1085714" cy="380952"/>
          </a:xfrm>
          <a:prstGeom prst="rect">
            <a:avLst/>
          </a:prstGeom>
          <a:noFill/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2000240"/>
            <a:ext cx="2133334" cy="419048"/>
          </a:xfrm>
          <a:prstGeom prst="rect">
            <a:avLst/>
          </a:prstGeom>
          <a:noFill/>
        </p:spPr>
      </p:pic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9" name="28 Rectángulo"/>
          <p:cNvSpPr/>
          <p:nvPr/>
        </p:nvSpPr>
        <p:spPr>
          <a:xfrm>
            <a:off x="3428992" y="3571876"/>
            <a:ext cx="5572164" cy="14287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00364" y="1357298"/>
            <a:ext cx="5847620" cy="800000"/>
          </a:xfrm>
          <a:prstGeom prst="rect">
            <a:avLst/>
          </a:prstGeom>
          <a:noFill/>
        </p:spPr>
      </p:pic>
      <p:pic>
        <p:nvPicPr>
          <p:cNvPr id="21514" name="Picture 10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71935" y="3000372"/>
            <a:ext cx="1104762" cy="380952"/>
          </a:xfrm>
          <a:prstGeom prst="rect">
            <a:avLst/>
          </a:prstGeom>
          <a:noFill/>
        </p:spPr>
      </p:pic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</a:t>
            </a: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21517" name="Picture 13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86446" y="2786058"/>
            <a:ext cx="1809524" cy="742858"/>
          </a:xfrm>
          <a:prstGeom prst="rect">
            <a:avLst/>
          </a:prstGeom>
          <a:noFill/>
        </p:spPr>
      </p:pic>
      <p:sp>
        <p:nvSpPr>
          <p:cNvPr id="2152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21519" name="Picture 15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868" y="3714752"/>
            <a:ext cx="5390476" cy="12190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50455460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13527</TotalTime>
  <Words>154</Words>
  <Application>Microsoft Office PowerPoint</Application>
  <PresentationFormat>Presentación en pantalla (4:3)</PresentationFormat>
  <Paragraphs>30</Paragraphs>
  <Slides>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Diseño predeterminado</vt:lpstr>
      <vt:lpstr>Ejercicio 7 Guía 1</vt:lpstr>
      <vt:lpstr>Ejercicio 7 Guía 1</vt:lpstr>
      <vt:lpstr>Ejercicio 7 Guía 1</vt:lpstr>
      <vt:lpstr>Ejercicio 7 Guía 1</vt:lpstr>
      <vt:lpstr>Ejercicio 7 Guía 1</vt:lpstr>
      <vt:lpstr>Ejercicio 7 Guía 1</vt:lpstr>
    </vt:vector>
  </TitlesOfParts>
  <Company>Componentes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Carlos</dc:creator>
  <cp:lastModifiedBy>Rodrigo González</cp:lastModifiedBy>
  <cp:revision>1116</cp:revision>
  <dcterms:created xsi:type="dcterms:W3CDTF">2009-02-18T11:37:08Z</dcterms:created>
  <dcterms:modified xsi:type="dcterms:W3CDTF">2020-04-01T21:37:49Z</dcterms:modified>
</cp:coreProperties>
</file>